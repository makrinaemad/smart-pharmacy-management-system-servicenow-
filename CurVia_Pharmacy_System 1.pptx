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1" r:id="rId13"/>
    <p:sldId id="282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EE62F-C53F-4247-B510-3AA7917109E0}" v="135" dt="2026-06-10T22:02:03.166"/>
    <p1510:client id="{7EB14E2B-7F84-4F09-A3E5-0F48164C8AD1}" v="54" dt="2026-06-10T20:16:12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093AB-3EBE-4436-AB87-74FD811B1A6B}" type="datetimeFigureOut"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A0C9A-37C8-433B-815B-6D5D88E7D0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1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4939" y="-547616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69393" y="3106572"/>
            <a:ext cx="2743200" cy="27432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411480"/>
            <a:ext cx="1371600" cy="1371600"/>
          </a:xfrm>
          <a:prstGeom prst="ellipse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5029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CurVia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PHARMACY MANAGEMENT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Documentation — ServiceNow Platform Implementation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Makrina Emad Petro  |  Information Technology Institute (ITI)  |  2026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959C8-80E3-F9C0-5872-B09CE9818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268" y="664175"/>
            <a:ext cx="1024357" cy="872698"/>
          </a:xfrm>
          <a:prstGeom prst="rect">
            <a:avLst/>
          </a:prstGeom>
        </p:spPr>
      </p:pic>
      <p:pic>
        <p:nvPicPr>
          <p:cNvPr id="12" name="Picture 11" descr="A red logo with a white dot&#10;&#10;AI-generated content may be incorrect.">
            <a:extLst>
              <a:ext uri="{FF2B5EF4-FFF2-40B4-BE49-F238E27FC236}">
                <a16:creationId xmlns:a16="http://schemas.microsoft.com/office/drawing/2014/main" id="{20DA3D1A-4C30-4F27-6C9E-607E5F4FE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807" y="-60846"/>
            <a:ext cx="821140" cy="940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7D1945-62D2-7D70-D816-59C362F72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90" y="4332027"/>
            <a:ext cx="1351698" cy="812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Workflows &amp; Automation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Management &amp; Complaints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 &amp; Dashboard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057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Test Scenarios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880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Enhancements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006B6B">
              <a:alpha val="50000"/>
            </a:srgbClr>
          </a:solidFill>
          <a:ln w="12700">
            <a:solidFill>
              <a:srgbClr val="006B6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103120" y="1828800"/>
            <a:ext cx="4572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CurVia Smart Pharmacy Management System — ServiceNow Platform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69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Gaps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causes stockouts &amp; expired medicines reaching patients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069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371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automated alerts for low stock and expiry dates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customer request tracking — poor service quality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23160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Notifications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697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 manually, causing delays &amp; inefficiencies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61188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49040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Complaints Hub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23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complaint management absent — issues go unresolved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749040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Blind Spots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023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SLA tracking makes enforcement impossible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complete medicine inventory lifecycle from procurement to dispensing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customers to request medicines via self-service portal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approval workflows with multi-stage review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automated low-stock alerts &amp; expiry monitoring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SLA compliance for all requests and complaints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operational dashboards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professional customer-facing Service Portal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914400"/>
            <a:ext cx="3337560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9509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1298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 &amp; manage profile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medicine requests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 stages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complaints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331720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331720"/>
            <a:ext cx="3337560" cy="347472"/>
          </a:xfrm>
          <a:prstGeom prst="roundRect">
            <a:avLst>
              <a:gd name="adj" fmla="val 18421"/>
            </a:avLst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3682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27157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medicine inventory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requests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complaints &amp; reorders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monitoring &amp; dashboard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749040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3749040"/>
            <a:ext cx="3337560" cy="347472"/>
          </a:xfrm>
          <a:prstGeom prst="roundRect">
            <a:avLst>
              <a:gd name="adj" fmla="val 1842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785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41330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update inventory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catalog tasks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complaints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006B6B">
              <a:alpha val="50000"/>
            </a:srgbClr>
          </a:solidFill>
          <a:ln w="12700">
            <a:solidFill>
              <a:srgbClr val="006B6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103120" y="1828800"/>
            <a:ext cx="4572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Tables, Roles &amp; ServiceNow Components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Scope &amp; 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Application Properties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438912"/>
          </a:xfrm>
          <a:prstGeom prst="rect">
            <a:avLst/>
          </a:prstGeom>
          <a:solidFill>
            <a:srgbClr val="E6F7F8"/>
          </a:solidFill>
          <a:ln w="12700">
            <a:solidFill>
              <a:srgbClr val="C5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353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56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Prefix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8562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x_1970979_pharma_0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14800" cy="438912"/>
          </a:xfrm>
          <a:prstGeom prst="rect">
            <a:avLst/>
          </a:prstGeom>
          <a:solidFill>
            <a:srgbClr val="E6F7F8"/>
          </a:solidFill>
          <a:ln w="12700">
            <a:solidFill>
              <a:srgbClr val="C5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59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3591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620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8620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(PDI)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18288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028090"/>
              </a:solidFill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94560" y="3364992"/>
            <a:ext cx="21031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00" dirty="0">
              <a:solidFill>
                <a:srgbClr val="1E3A3A"/>
              </a:solidFill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0" y="914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ServiceNow Components Used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135331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35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Designer: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approval &amp; lifecycle automation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82880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810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request submission portal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30428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alerts, expiry blocking, auto-assign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77977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Management: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complaint time tracking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25526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236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Portal: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236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&amp; request tracking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73075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ACLs: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712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record &amp; field access control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20624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Include: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MedicineAvailability (client callable)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46817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Scripts: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&amp; date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Custom Tables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Medicine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0972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inventory with status, expiry, pricing, batch &amp; reorder info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92024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9202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1031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linked to sys_user account for portal login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Task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3108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complaints with full lifecycle, SLA tracking &amp; replacement 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93192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9319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Reorder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4434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Task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1148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requests triggered by low stock alerts with priority calculation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Groups &amp; Access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pharmacy_admin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Group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all pharmacy records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medicine requests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complaints &amp; reorders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SLA monitoring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low stock &amp; SLA alerts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70332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E6F7F8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721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pharmacy.admin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1440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Group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medicine inventory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catalog tasks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complaints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reorder tasks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70332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E6F7F8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721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test.pharmacist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pharmacy_customer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Group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own medicine requests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records only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complaints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requests in portal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70332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E6F7F8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721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test.customer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006B6B">
              <a:alpha val="50000"/>
            </a:srgbClr>
          </a:solidFill>
          <a:ln w="12700">
            <a:solidFill>
              <a:srgbClr val="006B6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103120" y="1828800"/>
            <a:ext cx="4572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Workflows &amp; Automation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Request Lifecycle, Low Stock &amp; Expiry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Request Lifecycle — Flow Designer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51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via portal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18872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38528" y="100584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051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8528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requested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38728" y="118872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94176" y="100584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1051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94176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creates task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94376" y="118872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49824" y="100584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1051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Pickup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9824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118872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05472" y="100584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051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5472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confirms delivery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210312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21671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2103120"/>
            <a:ext cx="1600200" cy="640080"/>
          </a:xfrm>
          <a:prstGeom prst="roundRect">
            <a:avLst>
              <a:gd name="adj" fmla="val 14286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1671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Supporting the Flow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3328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Customer Name — auto-links Customer Profile to RITM on insert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703320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398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" y="37398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Catalog Variables — extract medicine name, link to inventory record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1513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" y="41513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Sync — keeps RITM State in sync with Stage for SLA &amp; portal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291840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3328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Deduction — deducts quantity when stage moves to Ready for Pickup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3703320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7398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37398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Restoration — restores quantity on cancellation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71A2C4-A8AA-7D10-E612-0CB07EA65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47" y="211079"/>
            <a:ext cx="8888106" cy="4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73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E88E3E-A651-1BFD-EC81-E6BA38C02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192"/>
            <a:ext cx="9144000" cy="450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705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Automation — Low Stock &amp; Expiry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Automation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— Critical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— High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 — Moderate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 — 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E6F7F8"/>
          </a:solidFill>
          <a:ln w="12700">
            <a:solidFill>
              <a:srgbClr val="C0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587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BR-01: On quantity change → if qty ≤ reorder level: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low_stock event → Send email notification → Create Reorder record with calculated priority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Monitoring (Scheduled Job)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2588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&gt; 30 days away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2402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24028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487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Expiry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≤ 30 days (still requestable)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5468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401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 passed → Read-only form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794760"/>
            <a:ext cx="4206240" cy="868680"/>
          </a:xfrm>
          <a:prstGeom prst="roundRect">
            <a:avLst>
              <a:gd name="adj" fmla="val 7368"/>
            </a:avLst>
          </a:prstGeom>
          <a:solidFill>
            <a:srgbClr val="E6F7F8"/>
          </a:solidFill>
          <a:ln w="12700">
            <a:solidFill>
              <a:srgbClr val="C0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8587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Job: ExpiryCheck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at 06:00 UTC • Scans all Active/Near-Expiry medicines • Updates status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006B6B">
              <a:alpha val="50000"/>
            </a:srgbClr>
          </a:solidFill>
          <a:ln w="12700">
            <a:solidFill>
              <a:srgbClr val="006B6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103120" y="1828800"/>
            <a:ext cx="4572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Management &amp; Complaints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enforcement, complaint lifecycle &amp; replacement flows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Definitions &amp; Notification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51960" cy="548640"/>
          </a:xfrm>
          <a:prstGeom prst="roundRect">
            <a:avLst>
              <a:gd name="adj" fmla="val 16667"/>
            </a:avLst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MedicineRequestSLA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45336"/>
            <a:ext cx="4251960" cy="274320"/>
          </a:xfrm>
          <a:prstGeom prst="rect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847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8–5 Weekdays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093976"/>
            <a:ext cx="4251960" cy="274320"/>
          </a:xfrm>
          <a:prstGeom prst="rect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214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121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sc_req_item (RITM)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95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395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= Under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642616"/>
            <a:ext cx="4251960" cy="274320"/>
          </a:xfrm>
          <a:prstGeom prst="rect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70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670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= Approved OR Rejected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9443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2944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51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4251960" cy="548640"/>
          </a:xfrm>
          <a:prstGeom prst="roundRect">
            <a:avLst>
              <a:gd name="adj" fmla="val 16667"/>
            </a:avLst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784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PharmacyComplaintSLA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545336"/>
            <a:ext cx="4251960" cy="274320"/>
          </a:xfrm>
          <a:prstGeom prst="rect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572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1572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8470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1847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8–5 Weekdays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093976"/>
            <a:ext cx="4251960" cy="274320"/>
          </a:xfrm>
          <a:prstGeom prst="rect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1214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2121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395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2395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New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642616"/>
            <a:ext cx="4251960" cy="274320"/>
          </a:xfrm>
          <a:prstGeom prst="rect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670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2670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Closed Completed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29443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2944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8600" y="3429000"/>
            <a:ext cx="8686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06B6B"/>
                </a:solidFill>
                <a:latin typeface="Calibri"/>
                <a:ea typeface="Calibri"/>
                <a:cs typeface="Calibri"/>
              </a:rPr>
              <a:t>SLA Notification Flow – 2 Flows Created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94560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2560320" y="37490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Warning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97680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4663440" y="37490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Breach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766560" y="37490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Takes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Management — Lifecycle &amp; Replacement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complaint via Record Producer (portal)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755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 auto-links medicine &amp; customer from referenced RITM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212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N-09 notifies Pharmacy Admin of new complaint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6517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670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assigns to Pharmacist group for investigation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1089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1272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Medicine → Flow asks Pharmacist for approval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84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Approved: BR-10 auto-creates Replacement RITM via Cart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0233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notified (N-10) with replacement request details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498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resolved with mandatory Resolution Notes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868680"/>
            <a:ext cx="3246120" cy="402336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0" y="8686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896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Request Logic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141732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type: Wrong Medicine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approves complaint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BR-10 (Global) fires via Cart API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RITM created automatically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flag set = true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NOT deducted again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delivery: +2 hours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 linked back to complaint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006B6B">
              <a:alpha val="50000"/>
            </a:srgbClr>
          </a:solidFill>
          <a:ln w="12700">
            <a:solidFill>
              <a:srgbClr val="006B6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103120" y="1828800"/>
            <a:ext cx="4572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Portal &amp; Dashboard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 portal, real-time KPIs &amp; operational reports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Portal — Patient Experience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15214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widget with animated background, Request Medicine &amp; Report Problem buttons. Personalized greeting for logged-in users.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15214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987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CurVia login with 'Create account' link directing new patients to self-registration.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96596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20370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31343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via Record Producer: name, email, phone, gender, address. Automatically creates sys_user + Customer Profile.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220370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Request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31343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form with real-time availability checker, price auto-fill, and 1-hour minimum pickup date validation.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30175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325526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Tracker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36499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Stage-by-stage visual tracker (New → Under Review → Approved → Ready → Completed) with timestamps.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25526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36499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list of all personal requests with state and last-updated info.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406908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2608" y="430682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Approvals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4165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 screen — customer approves/rejects pickup with medicine name and preferred date.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406908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4306824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Reports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4165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history showing complaint number, medicine, type, and resolution state.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Notification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Widgets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960120" cy="11887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960120" cy="320040"/>
          </a:xfrm>
          <a:prstGeom prst="roundRect">
            <a:avLst>
              <a:gd name="adj" fmla="val 2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6276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" y="2103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Medicines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1234440"/>
            <a:ext cx="960120" cy="11887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0" y="1234440"/>
            <a:ext cx="960120" cy="320040"/>
          </a:xfrm>
          <a:prstGeom prst="roundRect">
            <a:avLst>
              <a:gd name="adj" fmla="val 28571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6276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8A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Expiry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1234440"/>
            <a:ext cx="960120" cy="11887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1234440"/>
            <a:ext cx="960120" cy="320040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6276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31720" y="2103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1234440"/>
            <a:ext cx="960120" cy="11887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0" y="1234440"/>
            <a:ext cx="960120" cy="320040"/>
          </a:xfrm>
          <a:prstGeom prst="roundRect">
            <a:avLst>
              <a:gd name="adj" fmla="val 2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6276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83280" y="2103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Reports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685800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0906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3017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by Status: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246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Near Expiry / Expired split for instant inventory health check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630168"/>
            <a:ext cx="685800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by Stage: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904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visibility — spot approval bottlenecks instantly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4288536"/>
            <a:ext cx="685800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4074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43342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Medicines Requested: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562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insights to guide procurement &amp; reorder level adjustments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(12 Total)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126187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307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93792" y="1307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 → Admin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73736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783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93792" y="17830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Request SLA 75% → Admin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212848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258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93792" y="22585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Request SLA Breach → Admin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688336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7340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93792" y="2734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SLA 75% Warning → Admin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163824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93792" y="32095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SLA Breach → Admin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363931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685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93792" y="36850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Ready for Pickup → Customer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75120" y="126187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1307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05472" y="1307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Rejected → Customer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75120" y="173736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1783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05472" y="17830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Cancelled → Admin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675120" y="2212848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2258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205472" y="22585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Complaint Alert → Admin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675120" y="2688336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27340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05472" y="2734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Approved (Replacement) → Customer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675120" y="3163824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0" y="32095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205472" y="32095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Rejected → Customer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75120" y="363931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0" y="3685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205472" y="36850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Complaint Created → Admin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006B6B">
              <a:alpha val="50000"/>
            </a:srgbClr>
          </a:solidFill>
          <a:ln w="12700">
            <a:solidFill>
              <a:srgbClr val="006B6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103120" y="1828800"/>
            <a:ext cx="4572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Test Scenarios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architecture, role-based access, and verified use cases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ACL Security Architecture — 36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71800" y="914400"/>
            <a:ext cx="14630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960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914400"/>
            <a:ext cx="1737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960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914400"/>
            <a:ext cx="1554480" cy="38404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960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914400"/>
            <a:ext cx="11887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960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325880"/>
            <a:ext cx="274320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716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Medicine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71800" y="1325880"/>
            <a:ext cx="146304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37160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pharmacist, admin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325880"/>
            <a:ext cx="173736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37160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pharmacist, admin, customer (limited)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325880"/>
            <a:ext cx="155448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7160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pharmacist, admin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1325880"/>
            <a:ext cx="118872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137160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194560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402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71800" y="2194560"/>
            <a:ext cx="1463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24028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(self-reg), admin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2194560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24028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(own record), admin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194560"/>
            <a:ext cx="1554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24028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(own), admin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26680" y="2194560"/>
            <a:ext cx="1188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224028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063240"/>
            <a:ext cx="274320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1089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71800" y="3063240"/>
            <a:ext cx="146304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108960"/>
            <a:ext cx="137160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1E3A3A"/>
                </a:solidFill>
                <a:latin typeface="Calibri"/>
                <a:ea typeface="Calibri"/>
                <a:cs typeface="Calibri"/>
              </a:rPr>
              <a:t>customer, </a:t>
            </a:r>
            <a:r>
              <a:rPr lang="en-US" sz="1000">
                <a:solidFill>
                  <a:srgbClr val="1E3A3A"/>
                </a:solidFill>
                <a:latin typeface="Calibri"/>
                <a:ea typeface="Calibri"/>
                <a:cs typeface="Calibri"/>
              </a:rPr>
              <a:t>admin</a:t>
            </a:r>
            <a:endParaRPr lang="en-US" sz="1000">
              <a:solidFill>
                <a:srgbClr val="1E3A3A"/>
              </a:solidFill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34840" y="3063240"/>
            <a:ext cx="173736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310896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(own), admin, pharmacist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3063240"/>
            <a:ext cx="155448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10896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pharmacist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26680" y="3063240"/>
            <a:ext cx="1188720" cy="804672"/>
          </a:xfrm>
          <a:prstGeom prst="rect">
            <a:avLst/>
          </a:prstGeom>
          <a:solidFill>
            <a:srgbClr val="E6F7F8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310896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3931920"/>
            <a:ext cx="27432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97764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Reorder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971800" y="3931920"/>
            <a:ext cx="1463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397764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(BR), admin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34840" y="3931920"/>
            <a:ext cx="1737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0" y="397764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72200" y="3931920"/>
            <a:ext cx="1554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9776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3931920"/>
            <a:ext cx="1188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397764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" y="4754880"/>
            <a:ext cx="8686800" cy="274320"/>
          </a:xfrm>
          <a:prstGeom prst="roundRect">
            <a:avLst>
              <a:gd name="adj" fmla="val 16667"/>
            </a:avLst>
          </a:prstGeom>
          <a:solidFill>
            <a:srgbClr val="E6F7F8"/>
          </a:solidFill>
          <a:ln w="12700">
            <a:solidFill>
              <a:srgbClr val="C0DE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791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MedicineAvailability Script Include: execute access for all authenticated users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Test Scenarios — Verified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424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94760" y="98755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9966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969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26187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deducted, all notifications sent, RITM = Closed Complete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424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98755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9966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49240" y="969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Rejected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26187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notified, stock NOT deducted, state = Closed Incomplete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173736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173736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865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181051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8196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" y="1792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Cancels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08483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restored only if stage was Ready for Pickup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73736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865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S-04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75320" y="181051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18196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49240" y="1792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Medicine Approval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084832"/>
            <a:ext cx="352044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3A3A"/>
                </a:solidFill>
                <a:latin typeface="Calibri"/>
                <a:ea typeface="Calibri"/>
                <a:cs typeface="Calibri"/>
              </a:rPr>
              <a:t>Error: 'Cannot approve expired medicine request.' </a:t>
            </a:r>
          </a:p>
        </p:txBody>
      </p:sp>
      <p:sp>
        <p:nvSpPr>
          <p:cNvPr id="32" name="Shape 30"/>
          <p:cNvSpPr/>
          <p:nvPr/>
        </p:nvSpPr>
        <p:spPr>
          <a:xfrm>
            <a:off x="182880" y="256032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256032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26883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94760" y="263347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8680" y="26151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Request Flow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290779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RITM auto-created, stock NOT deducted again, 2-hr delivery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56032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56032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6883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S-06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75320" y="263347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49240" y="26151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Warning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290779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warning in portal: 'Low Stock, only N units left'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" y="338328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82880" y="338328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35112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94760" y="345643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3465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8680" y="3438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Detection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68680" y="373075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email sent, reorder record created with calculated priority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38328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38328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5112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75320" y="345643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3465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49240" y="3438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→ Read-Only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49240" y="373075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 fields become read-only via UI Policy on expired status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420624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82880" y="420624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43342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S-9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794760" y="427939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94760" y="4288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68680" y="4261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Self-Registration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68680" y="455371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sys_user created, pharmacy_customer role assigned, profile linked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63440" y="4206240"/>
            <a:ext cx="4297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63440" y="4206240"/>
            <a:ext cx="594360" cy="749808"/>
          </a:xfrm>
          <a:prstGeom prst="roundRect">
            <a:avLst>
              <a:gd name="adj" fmla="val 10769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63440" y="43342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S-10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275320" y="427939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75320" y="4288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349240" y="4261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Warning (75%)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349240" y="4553712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email sent to admin with request details &amp; time remaining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006B6B">
              <a:alpha val="50000"/>
            </a:srgbClr>
          </a:solidFill>
          <a:ln w="12700">
            <a:solidFill>
              <a:srgbClr val="006B6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2103120" y="1828800"/>
            <a:ext cx="4572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Future Work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summary, lessons learned &amp; enhancement roadmap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Summary — What Was Built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25880" cy="73152"/>
          </a:xfrm>
          <a:prstGeom prst="roundRect">
            <a:avLst>
              <a:gd name="adj" fmla="val 1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19072" y="91440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19072" y="914400"/>
            <a:ext cx="1325880" cy="73152"/>
          </a:xfrm>
          <a:prstGeom prst="roundRect">
            <a:avLst>
              <a:gd name="adj" fmla="val 1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10058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719072" y="16276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91440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914400"/>
            <a:ext cx="1325880" cy="73152"/>
          </a:xfrm>
          <a:prstGeom prst="roundRect">
            <a:avLst>
              <a:gd name="adj" fmla="val 125000"/>
            </a:avLst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0058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6B6B"/>
                </a:solidFill>
                <a:latin typeface="Cambria"/>
                <a:ea typeface="Cambria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163824" y="16276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+ Sub)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914400"/>
            <a:ext cx="1325880" cy="73152"/>
          </a:xfrm>
          <a:prstGeom prst="roundRect">
            <a:avLst>
              <a:gd name="adj" fmla="val 125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0058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08576" y="16276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91440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914400"/>
            <a:ext cx="1325880" cy="73152"/>
          </a:xfrm>
          <a:prstGeom prst="roundRect">
            <a:avLst>
              <a:gd name="adj" fmla="val 125000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0058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53328" y="16276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91440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914400"/>
            <a:ext cx="1325880" cy="73152"/>
          </a:xfrm>
          <a:prstGeom prst="roundRect">
            <a:avLst>
              <a:gd name="adj" fmla="val 1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0058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498080" y="162763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Requirements Implemented 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6609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2679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medicine inventory with auto-numbering &amp; status tracking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1181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" y="3136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self-registration with automatic role assignment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575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approval workflow from request submission to delivery confirmation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0325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low stock detection and email notification pipeline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4897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" y="4507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expiry monitoring with automatic status classification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26609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10912" y="2679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enforcement with 75% warning and 100% breach notifications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31181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10912" y="3136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lifecycle with mandatory resolution notes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3575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10912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 Portal with CurVia branding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40325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10912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at record &amp; field level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44897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10912" y="4507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with inventory KPIs &amp; request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13385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96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Medicine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Intelligence / ML models for personalized medicine suggestions based on patient history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13385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996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API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801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external supplier APIs for automated reorder placement and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9202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13969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002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Batch Handling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286000"/>
            <a:ext cx="347472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dirty="0">
                <a:solidFill>
                  <a:srgbClr val="1E3A3A"/>
                </a:solidFill>
                <a:ea typeface="Calibri"/>
                <a:cs typeface="Calibri"/>
              </a:rPr>
              <a:t>Handle new batches with </a:t>
            </a:r>
            <a:r>
              <a:rPr lang="en-US" sz="1000" dirty="0" err="1">
                <a:solidFill>
                  <a:srgbClr val="1E3A3A"/>
                </a:solidFill>
                <a:ea typeface="Calibri"/>
                <a:cs typeface="Calibri"/>
              </a:rPr>
              <a:t>quntity</a:t>
            </a:r>
            <a:r>
              <a:rPr lang="en-US" sz="1000" dirty="0">
                <a:solidFill>
                  <a:srgbClr val="1E3A3A"/>
                </a:solidFill>
                <a:ea typeface="Calibri"/>
                <a:cs typeface="Calibri"/>
              </a:rPr>
              <a:t> and, expiration date, and FIFO Concept For </a:t>
            </a:r>
            <a:r>
              <a:rPr lang="en-US" sz="1000" dirty="0" err="1">
                <a:solidFill>
                  <a:srgbClr val="1E3A3A"/>
                </a:solidFill>
                <a:ea typeface="Calibri"/>
                <a:cs typeface="Calibri"/>
              </a:rPr>
              <a:t>Requ</a:t>
            </a:r>
            <a:r>
              <a:rPr lang="en-US" sz="1000" dirty="0">
                <a:solidFill>
                  <a:srgbClr val="1E3A3A"/>
                </a:solidFill>
                <a:ea typeface="Calibri"/>
                <a:cs typeface="Calibri"/>
              </a:rPr>
              <a:t>ests </a:t>
            </a:r>
          </a:p>
        </p:txBody>
      </p:sp>
      <p:sp>
        <p:nvSpPr>
          <p:cNvPr id="19" name="Shape 17"/>
          <p:cNvSpPr/>
          <p:nvPr/>
        </p:nvSpPr>
        <p:spPr>
          <a:xfrm>
            <a:off x="4663440" y="19202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213969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002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OCR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2860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image upload with OCR processing for automatic medicine name extraction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314553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008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Low Stock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2918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alerts using historical consumption patterns to predict stockouts before they happen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2608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314553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008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Multi-Pharmacy Support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2918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sharing and transfer workflows across pharmacy chain locations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39319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2608" y="415137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4014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Alerts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297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REST API integration for multi-channel patient notifications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319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4151376"/>
            <a:ext cx="457200" cy="45720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E6F7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4014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297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tracking, cost analysis, and insurance provider prescription verification module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457200"/>
            <a:ext cx="1371600" cy="1371600"/>
          </a:xfrm>
          <a:prstGeom prst="ellipse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5486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CurVia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PHARMACY MANAGEMENT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Graduation Project 2026  •  Built on ServiceNow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Makrina Emad Petro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6DC2E7-62A6-DB85-DFF0-88B5E6EEF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545" y="710513"/>
            <a:ext cx="1024357" cy="87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CurVia Smart Pharmacy Management System</dc:title>
  <dc:subject>PptxGenJS Presentation</dc:subject>
  <dc:creator>Makrina Emad Petro</dc:creator>
  <cp:lastModifiedBy>Makrina Emad Petro</cp:lastModifiedBy>
  <cp:revision>81</cp:revision>
  <dcterms:created xsi:type="dcterms:W3CDTF">2026-06-10T18:16:50Z</dcterms:created>
  <dcterms:modified xsi:type="dcterms:W3CDTF">2026-06-10T22:02:31Z</dcterms:modified>
</cp:coreProperties>
</file>